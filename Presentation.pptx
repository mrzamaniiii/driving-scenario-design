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311" r:id="rId2"/>
    <p:sldId id="309" r:id="rId3"/>
    <p:sldId id="256" r:id="rId4"/>
    <p:sldId id="261" r:id="rId5"/>
    <p:sldId id="264" r:id="rId6"/>
    <p:sldId id="300" r:id="rId7"/>
    <p:sldId id="293" r:id="rId8"/>
    <p:sldId id="310" r:id="rId9"/>
    <p:sldId id="297" r:id="rId10"/>
    <p:sldId id="298" r:id="rId11"/>
    <p:sldId id="306" r:id="rId12"/>
    <p:sldId id="308" r:id="rId13"/>
    <p:sldId id="287" r:id="rId14"/>
    <p:sldId id="288" r:id="rId15"/>
    <p:sldId id="289" r:id="rId16"/>
    <p:sldId id="290" r:id="rId17"/>
    <p:sldId id="291" r:id="rId18"/>
    <p:sldId id="292" r:id="rId19"/>
    <p:sldId id="299" r:id="rId20"/>
    <p:sldId id="301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1B016-B85E-482F-4237-6802FF6B3E65}" v="6" dt="2025-12-22T20:20:23.327"/>
    <p1510:client id="{6227D43F-1716-8161-42E4-9CA679C52A0D}" v="118" dt="2025-12-23T00:14:37.222"/>
    <p1510:client id="{6F86A648-FFD7-AF38-BC1A-B2150915E7F5}" v="978" dt="2025-12-23T02:19:58.789"/>
    <p1510:client id="{8B349F8B-F1F5-FF19-1D9F-58502B01EDD1}" v="1686" dt="2025-12-23T05:53:08.856"/>
    <p1510:client id="{C3A90207-79EC-464E-A45A-1F5625E59BE3}" v="1" dt="2025-12-23T07:28:33.125"/>
    <p1510:client id="{D50045AB-DA83-051F-CDC4-A5BBFBEE8289}" v="19" dt="2025-12-22T22:10:12.179"/>
    <p1510:client id="{EBFF8E60-D918-CC12-7C2E-88073F5500B4}" v="28" dt="2025-12-22T14:31:16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DFFB3-F85A-47F8-A7CF-F4AE28ECFB28}" type="datetimeFigureOut">
              <a:t>12/23/2025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19CF6-629A-4169-990C-70C20D09CAD1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58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u="sng">
                <a:ea typeface="等线"/>
              </a:rPr>
              <a:t>Hello everyone. Our project compares traditional Kalman filtering and unsupervised </a:t>
            </a:r>
            <a:r>
              <a:rPr lang="en-US" altLang="zh-CN" u="sng" err="1">
                <a:ea typeface="等线"/>
              </a:rPr>
              <a:t>KalmanNet</a:t>
            </a:r>
            <a:r>
              <a:rPr lang="en-US" altLang="zh-CN" u="sng">
                <a:ea typeface="等线"/>
              </a:rPr>
              <a:t> for vehicle trajectory estimation.</a:t>
            </a:r>
            <a:endParaRPr lang="zh-CN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70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u="sng"/>
              <a:t>This presentation includes trajectory setup, two method descriptions, and result comparisons.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528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u="sng">
                <a:ea typeface="等线"/>
              </a:rPr>
              <a:t>The vehicle trajectory is generated using MATLAB drivingScenario, providing accurate ground truth</a:t>
            </a:r>
            <a:r>
              <a:rPr lang="en-US" altLang="zh-CN">
                <a:ea typeface="等线"/>
              </a:rPr>
              <a:t> </a:t>
            </a:r>
            <a:r>
              <a:rPr lang="en-US" altLang="zh-CN" u="sng">
                <a:ea typeface="等线"/>
              </a:rPr>
              <a:t>positions.</a:t>
            </a:r>
            <a:endParaRPr lang="zh-CN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72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>
                <a:solidFill>
                  <a:srgbClr val="0E00FF"/>
                </a:solidFill>
              </a:rPr>
              <a:t>Gaussian noise with 5 m standard deviation is added to simulate GPS measurements. </a:t>
            </a:r>
            <a:endParaRPr lang="zh-CN" altLang="en-US"/>
          </a:p>
          <a:p>
            <a:r>
              <a:rPr lang="en-US" u="sng" dirty="0">
                <a:solidFill>
                  <a:srgbClr val="0E00FF"/>
                </a:solidFill>
              </a:rPr>
              <a:t>The goal is to reduce </a:t>
            </a:r>
            <a:r>
              <a:rPr lang="en-US" u="sng">
                <a:solidFill>
                  <a:srgbClr val="0E00FF"/>
                </a:solidFill>
              </a:rPr>
              <a:t>localization</a:t>
            </a:r>
            <a:r>
              <a:rPr lang="en-US" u="sng" dirty="0">
                <a:solidFill>
                  <a:srgbClr val="0E00FF"/>
                </a:solidFill>
              </a:rPr>
              <a:t> error under GPS-only conditions.</a:t>
            </a:r>
            <a:endParaRPr lang="en-US" dirty="0"/>
          </a:p>
          <a:p>
            <a:endParaRPr lang="en-US" altLang="zh-CN">
              <a:solidFill>
                <a:srgbClr val="0E00FF"/>
              </a:solidFill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726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/>
              <a:t>An ego vehicle is created as a passenger car and serves as the tracked object. </a:t>
            </a:r>
            <a:endParaRPr lang="zh-CN" altLang="en-US"/>
          </a:p>
          <a:p>
            <a:r>
              <a:rPr lang="en-US" u="sng"/>
              <a:t>This ego vehicle is used consistently throughout the trajectory generation and trajectory estimation</a:t>
            </a:r>
            <a:r>
              <a:rPr lang="en-US"/>
              <a:t> </a:t>
            </a:r>
            <a:r>
              <a:rPr lang="en-US" u="sng"/>
              <a:t>experiments.</a:t>
            </a:r>
            <a:endParaRPr lang="en-US"/>
          </a:p>
          <a:p>
            <a:endParaRPr lang="en-US" altLang="zh-CN">
              <a:latin typeface="等线"/>
              <a:ea typeface="等线"/>
              <a:cs typeface="Calibri"/>
            </a:endParaRPr>
          </a:p>
          <a:p>
            <a:r>
              <a:rPr lang="en-US"/>
              <a:t>The vehicle follows predefined waypoints at a constant speed to simplify modeling. </a:t>
            </a:r>
          </a:p>
          <a:p>
            <a:r>
              <a:rPr lang="en-US"/>
              <a:t>This setup generates smooth, repeatable trajectories, providing a unified reference for fair comparison between methods.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7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it adaptively estimates the Kalman gain within a classical Kalman filtering framework.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97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Deviations are observed in high-curvature turning regions, indicating limited modeling of complex dynamics.</a:t>
            </a:r>
            <a:endParaRPr lang="en-US" altLang="zh-CN"/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528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Over-smoothing and slight lag occur during rapid motion changes.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91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RMSE, MAE, and maximum error are substantially reduced compared to noisy GPS.</a:t>
            </a:r>
            <a:endParaRPr lang="zh-CN" altLang="en-US"/>
          </a:p>
          <a:p>
            <a:pPr marL="171450" indent="-171450">
              <a:buFont typeface="Arial"/>
              <a:buChar char="•"/>
            </a:pPr>
            <a:r>
              <a:rPr lang="en-US"/>
              <a:t>A residual bias remains in the Y direction, suggesting limitations of the unsupervised loss.</a:t>
            </a:r>
          </a:p>
          <a:p>
            <a:pPr marL="171450" indent="-171450">
              <a:buFont typeface="Arial"/>
              <a:buChar char="•"/>
            </a:pPr>
            <a:endParaRPr lang="en-US">
              <a:latin typeface="等线"/>
              <a:ea typeface="等线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The unsupervised </a:t>
            </a:r>
            <a:r>
              <a:rPr lang="en-US" err="1"/>
              <a:t>KalmanNet</a:t>
            </a:r>
            <a:r>
              <a:rPr lang="en-US"/>
              <a:t> effectively reduces measurement noise while preserving motion trends, but shows limitations in high-curvature and fast-changing dynamics.</a:t>
            </a:r>
            <a:endParaRPr lang="en-US">
              <a:latin typeface="等线"/>
              <a:ea typeface="等线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422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Position is measurable, but velocity and acceleration are not.</a:t>
            </a:r>
            <a:endParaRPr lang="zh-CN"/>
          </a:p>
          <a:p>
            <a:r>
              <a:rPr lang="en-US" altLang="zh-CN">
                <a:ea typeface="等线"/>
              </a:rPr>
              <a:t> </a:t>
            </a:r>
            <a:endParaRPr lang="zh-CN">
              <a:ea typeface="等线"/>
            </a:endParaRPr>
          </a:p>
          <a:p>
            <a:r>
              <a:rPr lang="en-US" altLang="zh-CN"/>
              <a:t>Hidden states are estimated recursively through filtering.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569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90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altLang="zh-CN"/>
              <a:t>The filtered trajectory closely follows the ground truth throughout the motion.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en-US" altLang="zh-CN">
                <a:ea typeface="等线"/>
              </a:rPr>
              <a:t>Stable and smooth behavior is observed in both straight and turning segments.</a:t>
            </a:r>
            <a:endParaRPr lang="zh-CN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/>
              <a:t>The trajectory is physically consistent with vehicle motion.</a:t>
            </a:r>
            <a:endParaRPr lang="zh-CN"/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903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altLang="zh-CN"/>
              <a:t>The temporal evolution of X and Y positions is accurately tracked.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en-US" altLang="zh-CN"/>
              <a:t>No noticeable lag is observed at turning points or during dynamic changes.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en-US" altLang="zh-CN"/>
              <a:t>Estimated positions are nearly indistinguishable from the ground truth</a:t>
            </a:r>
            <a:endParaRPr lang="zh-CN"/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380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Low RMSE, MAE, and maximum error indicate high positioning accuracy.</a:t>
            </a:r>
            <a:endParaRPr lang="zh-CN" altLang="en-US"/>
          </a:p>
          <a:p>
            <a:pPr marL="171450" indent="-171450">
              <a:buFont typeface="Arial"/>
              <a:buChar char="•"/>
            </a:pPr>
            <a:r>
              <a:rPr lang="en-US"/>
              <a:t>Near-zero bias in both X and Y directions.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Mean NIS ≈ 1.99 confirms the statistical consistency of the filter.</a:t>
            </a:r>
          </a:p>
          <a:p>
            <a:pPr marL="171450" indent="-171450">
              <a:buFont typeface="Arial"/>
              <a:buChar char="•"/>
            </a:pPr>
            <a:endParaRPr lang="en-US">
              <a:latin typeface="等线"/>
              <a:ea typeface="等线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Explicit motion and noise modeling with strong interpretability.</a:t>
            </a:r>
            <a:endParaRPr lang="en-US">
              <a:latin typeface="等线"/>
              <a:ea typeface="等线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Robust to measurement noise and outliers.</a:t>
            </a:r>
          </a:p>
          <a:p>
            <a:pPr>
              <a:buFont typeface="Arial"/>
              <a:buChar char="•"/>
            </a:pPr>
            <a:r>
              <a:rPr lang="en-US"/>
              <a:t>Stable and reliable performance when the model is well matched.</a:t>
            </a:r>
          </a:p>
          <a:p>
            <a:pPr marL="171450" indent="-171450">
              <a:buFont typeface="Arial"/>
              <a:buChar char="•"/>
            </a:pPr>
            <a:endParaRPr lang="en-US">
              <a:latin typeface="等线"/>
              <a:ea typeface="等线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26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altLang="zh-CN" b="1">
                <a:ea typeface="等线"/>
              </a:rPr>
              <a:t>Plan 1 (</a:t>
            </a:r>
            <a:r>
              <a:rPr lang="en-US" altLang="zh-CN" b="1" err="1">
                <a:ea typeface="等线"/>
              </a:rPr>
              <a:t>KalmanNet</a:t>
            </a:r>
            <a:r>
              <a:rPr lang="en-US" altLang="zh-CN" b="1">
                <a:ea typeface="等线"/>
              </a:rPr>
              <a:t>)</a:t>
            </a:r>
            <a:r>
              <a:rPr lang="en-US" altLang="zh-CN">
                <a:ea typeface="等线"/>
              </a:rPr>
              <a:t> smooths noisy GPS but shows deviation and lag in high-curvature turns.</a:t>
            </a:r>
            <a:endParaRPr lang="zh-CN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 b="1">
                <a:ea typeface="等线"/>
              </a:rPr>
              <a:t>Plan 2 (CA KF)</a:t>
            </a:r>
            <a:r>
              <a:rPr lang="en-US" altLang="zh-CN">
                <a:ea typeface="等线"/>
              </a:rPr>
              <a:t> closely follows the ground truth in both straight and turning segments.</a:t>
            </a:r>
            <a:endParaRPr lang="zh-CN">
              <a:ea typeface="等线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170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/>
              <a:t>Plan 2 shows accurate and responsive tracking of X/Y positions.</a:t>
            </a:r>
            <a:endParaRPr lang="en-US" altLang="zh-CN">
              <a:latin typeface="等线"/>
              <a:ea typeface="等线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Plan 1 exhibits over-smoothing and slight temporal l</a:t>
            </a:r>
            <a:endParaRPr lang="en-US">
              <a:ea typeface="等线"/>
            </a:endParaRPr>
          </a:p>
          <a:p>
            <a:pPr marL="285750" indent="-285750">
              <a:buFont typeface="Arial"/>
              <a:buChar char="•"/>
            </a:pPr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19CF6-629A-4169-990C-70C20D09CAD1}" type="slidenum">
              <a:rPr lang="en-US" altLang="zh-CN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54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DE1A-6DAB-8485-2F63-8528D1B0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tx1">
                    <a:lumMod val="49000"/>
                    <a:lumOff val="51000"/>
                  </a:schemeClr>
                </a:solidFill>
              </a:rPr>
              <a:t>Lab Experience in Signals and Data Processing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0DA4-6149-12F5-C55D-29B9C7CC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337"/>
            <a:ext cx="10515600" cy="507214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Traditional Kalman Filter and  Unsupervised Kalman Filter</a:t>
            </a:r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Prof.</a:t>
            </a:r>
            <a:r>
              <a:rPr lang="en-US" sz="2600"/>
              <a:t> </a:t>
            </a:r>
            <a:r>
              <a:rPr lang="en-US" sz="26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Mattia Brambilla</a:t>
            </a:r>
            <a:endParaRPr lang="en-US" sz="2600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Mohammadreza Zamani</a:t>
            </a:r>
          </a:p>
          <a:p>
            <a:pPr marL="0" indent="0" algn="ctr">
              <a:buNone/>
            </a:pPr>
            <a:r>
              <a:rPr lang="en-US"/>
              <a:t>Asal Abbas Nejad Fard</a:t>
            </a:r>
          </a:p>
          <a:p>
            <a:pPr marL="0" indent="0" algn="ctr">
              <a:buNone/>
            </a:pPr>
            <a:r>
              <a:rPr lang="en-US" err="1">
                <a:solidFill>
                  <a:srgbClr val="323130"/>
                </a:solidFill>
                <a:highlight>
                  <a:srgbClr val="FFFFFF"/>
                </a:highlight>
                <a:latin typeface="Segoe UI"/>
                <a:cs typeface="Segoe UI"/>
              </a:rPr>
              <a:t>Yuzhu</a:t>
            </a:r>
            <a:r>
              <a:rPr lang="en-US">
                <a:solidFill>
                  <a:srgbClr val="323130"/>
                </a:solidFill>
                <a:highlight>
                  <a:srgbClr val="FFFFFF"/>
                </a:highlight>
                <a:latin typeface="Segoe UI"/>
                <a:cs typeface="Segoe UI"/>
              </a:rPr>
              <a:t> Feng</a:t>
            </a:r>
          </a:p>
          <a:p>
            <a:pPr marL="0" indent="0" algn="ctr">
              <a:buNone/>
            </a:pPr>
            <a:endParaRPr lang="en-US">
              <a:solidFill>
                <a:srgbClr val="323130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marL="0" indent="0" algn="ctr">
              <a:buNone/>
            </a:pPr>
            <a:endParaRPr lang="en-US">
              <a:solidFill>
                <a:srgbClr val="323130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marL="0" indent="0" algn="ctr">
              <a:buNone/>
            </a:pPr>
            <a:r>
              <a:rPr lang="en-US">
                <a:solidFill>
                  <a:srgbClr val="323130"/>
                </a:solidFill>
                <a:highlight>
                  <a:srgbClr val="FFFFFF"/>
                </a:highlight>
                <a:latin typeface="Segoe UI"/>
                <a:cs typeface="Segoe UI"/>
              </a:rPr>
              <a:t>December 2025</a:t>
            </a:r>
          </a:p>
        </p:txBody>
      </p:sp>
    </p:spTree>
    <p:extLst>
      <p:ext uri="{BB962C8B-B14F-4D97-AF65-F5344CB8AC3E}">
        <p14:creationId xmlns:p14="http://schemas.microsoft.com/office/powerpoint/2010/main" val="411310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C186C-A8C1-994F-0B5E-D001A25B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 </a:t>
            </a:r>
            <a:r>
              <a:rPr lang="en-US" altLang="zh-CN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C</a:t>
            </a:r>
            <a:r>
              <a:rPr lang="zh-CN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ontents</a:t>
            </a:r>
            <a:endParaRPr lang="zh-CN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BFFBC-329B-98C7-B4EF-901374454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3200">
                <a:latin typeface="Aptos Display"/>
                <a:ea typeface="+mn-lt"/>
              </a:rPr>
              <a:t>Trajectory </a:t>
            </a:r>
            <a:endParaRPr lang="zh-CN" altLang="en-US" sz="3200">
              <a:latin typeface="Aptos" panose="020B0004020202020204"/>
              <a:ea typeface="宋体" panose="02010600030101010101" pitchFamily="2" charset="-122"/>
            </a:endParaRPr>
          </a:p>
          <a:p>
            <a:r>
              <a:rPr lang="en-US" sz="3200">
                <a:latin typeface="Aptos Display"/>
              </a:rPr>
              <a:t>Plan A: Traditional Method</a:t>
            </a:r>
          </a:p>
          <a:p>
            <a:r>
              <a:rPr lang="en-US" sz="3200">
                <a:latin typeface="Aptos Display"/>
              </a:rPr>
              <a:t>Plan B: </a:t>
            </a:r>
            <a:r>
              <a:rPr lang="en-US" sz="3200" err="1">
                <a:latin typeface="Aptos Display"/>
              </a:rPr>
              <a:t>Kalmannet</a:t>
            </a:r>
            <a:r>
              <a:rPr lang="en-US" sz="3200">
                <a:latin typeface="Aptos Display"/>
              </a:rPr>
              <a:t> </a:t>
            </a:r>
          </a:p>
          <a:p>
            <a:r>
              <a:rPr lang="en-US" altLang="zh-CN" sz="3200">
                <a:latin typeface="Aptos Display"/>
                <a:ea typeface="宋体"/>
              </a:rPr>
              <a:t>Comparison</a:t>
            </a:r>
            <a:endParaRPr lang="en-US" sz="3200">
              <a:latin typeface="Aptos Display"/>
              <a:ea typeface="宋体"/>
            </a:endParaRPr>
          </a:p>
          <a:p>
            <a:endParaRPr lang="en-US" sz="60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10590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1466349"/>
            <a:ext cx="9144000" cy="2387600"/>
          </a:xfrm>
        </p:spPr>
        <p:txBody>
          <a:bodyPr/>
          <a:lstStyle/>
          <a:p>
            <a:r>
              <a:rPr lang="en-US" sz="4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Trajectory</a:t>
            </a:r>
            <a:r>
              <a:rPr lang="en-US" altLang="zh-CN" sz="4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 </a:t>
            </a:r>
            <a:endParaRPr lang="zh-CN" altLang="en-US" sz="48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03B4F2F0-BDEC-BC36-FEE9-225FB3BF8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71" y="1729802"/>
            <a:ext cx="5384717" cy="373693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7A4F32-F989-F4EC-1803-BA4E18A34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34" y="1732766"/>
            <a:ext cx="5731635" cy="373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6C9FE-5D02-25F4-59DA-B8B5BB79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latin typeface="Aptos"/>
                <a:ea typeface="+mj-lt"/>
                <a:cs typeface="+mj-lt"/>
              </a:rPr>
              <a:t>Setup</a:t>
            </a:r>
            <a:endParaRPr lang="en-US" altLang="zh-CN" sz="4000" b="1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33AB6-8C98-3833-C44E-97AD8F0D1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218"/>
            <a:ext cx="10515600" cy="43800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Vehicle</a:t>
            </a:r>
            <a:r>
              <a:rPr lang="zh-CN" altLang="en-US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T</a:t>
            </a:r>
            <a:r>
              <a:rPr 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ra</a:t>
            </a:r>
            <a:r>
              <a:rPr lang="en-US" altLang="zh-CN" sz="3200" b="1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cking</a:t>
            </a:r>
            <a:r>
              <a:rPr lang="zh-CN" altLang="en-US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3200" b="1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wi</a:t>
            </a:r>
            <a:r>
              <a:rPr 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t</a:t>
            </a:r>
            <a:r>
              <a:rPr lang="en-US" alt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h</a:t>
            </a:r>
            <a:r>
              <a:rPr lang="zh-CN" altLang="en-US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Noisy</a:t>
            </a:r>
            <a:r>
              <a:rPr lang="zh-CN" altLang="en-US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32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GPS</a:t>
            </a:r>
            <a:endParaRPr lang="zh-CN" altLang="en-US" sz="32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  <a:p>
            <a:r>
              <a:rPr lang="en-US" altLang="zh-CN">
                <a:ea typeface="+mn-lt"/>
                <a:cs typeface="+mn-lt"/>
              </a:rPr>
              <a:t>V</a:t>
            </a:r>
            <a:r>
              <a:rPr lang="zh-CN">
                <a:ea typeface="+mn-lt"/>
                <a:cs typeface="+mn-lt"/>
              </a:rPr>
              <a:t>ehi</a:t>
            </a:r>
            <a:r>
              <a:rPr lang="en-US" altLang="zh-CN">
                <a:ea typeface="+mn-lt"/>
                <a:cs typeface="+mn-lt"/>
              </a:rPr>
              <a:t>c</a:t>
            </a:r>
            <a:r>
              <a:rPr lang="zh-CN">
                <a:ea typeface="+mn-lt"/>
                <a:cs typeface="+mn-lt"/>
              </a:rPr>
              <a:t>l</a:t>
            </a:r>
            <a:r>
              <a:rPr lang="en-US" altLang="zh-CN">
                <a:ea typeface="+mn-lt"/>
                <a:cs typeface="+mn-lt"/>
              </a:rPr>
              <a:t>e</a:t>
            </a:r>
            <a:r>
              <a:rPr lang="zh-CN" altLang="en-US">
                <a:ea typeface="+mn-lt"/>
                <a:cs typeface="+mn-lt"/>
              </a:rPr>
              <a:t> T</a:t>
            </a:r>
            <a:r>
              <a:rPr lang="en-US" altLang="zh-CN">
                <a:ea typeface="+mn-lt"/>
                <a:cs typeface="+mn-lt"/>
              </a:rPr>
              <a:t>r</a:t>
            </a:r>
            <a:r>
              <a:rPr lang="zh-CN">
                <a:ea typeface="+mn-lt"/>
                <a:cs typeface="+mn-lt"/>
              </a:rPr>
              <a:t>a</a:t>
            </a:r>
            <a:r>
              <a:rPr lang="en-US" altLang="zh-CN" err="1">
                <a:ea typeface="+mn-lt"/>
                <a:cs typeface="+mn-lt"/>
              </a:rPr>
              <a:t>jec</a:t>
            </a:r>
            <a:r>
              <a:rPr lang="zh-CN">
                <a:ea typeface="+mn-lt"/>
                <a:cs typeface="+mn-lt"/>
              </a:rPr>
              <a:t>to</a:t>
            </a:r>
            <a:r>
              <a:rPr lang="en-US" altLang="zh-CN" err="1">
                <a:ea typeface="+mn-lt"/>
                <a:cs typeface="+mn-lt"/>
              </a:rPr>
              <a:t>ry</a:t>
            </a:r>
            <a:r>
              <a:rPr lang="zh-CN" altLang="en-US">
                <a:ea typeface="+mn-lt"/>
                <a:cs typeface="+mn-lt"/>
              </a:rPr>
              <a:t> G</a:t>
            </a:r>
            <a:r>
              <a:rPr lang="en-US" altLang="zh-CN">
                <a:ea typeface="+mn-lt"/>
                <a:cs typeface="+mn-lt"/>
              </a:rPr>
              <a:t>e</a:t>
            </a:r>
            <a:r>
              <a:rPr lang="zh-CN">
                <a:ea typeface="+mn-lt"/>
                <a:cs typeface="+mn-lt"/>
              </a:rPr>
              <a:t>ne</a:t>
            </a:r>
            <a:r>
              <a:rPr lang="en-US" altLang="zh-CN">
                <a:ea typeface="+mn-lt"/>
                <a:cs typeface="+mn-lt"/>
              </a:rPr>
              <a:t>rated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 err="1">
                <a:ea typeface="+mn-lt"/>
                <a:cs typeface="+mn-lt"/>
              </a:rPr>
              <a:t>usi</a:t>
            </a:r>
            <a:r>
              <a:rPr lang="zh-CN">
                <a:ea typeface="+mn-lt"/>
                <a:cs typeface="+mn-lt"/>
              </a:rPr>
              <a:t>n</a:t>
            </a:r>
            <a:r>
              <a:rPr lang="en-US" altLang="zh-CN">
                <a:ea typeface="+mn-lt"/>
                <a:cs typeface="+mn-lt"/>
              </a:rPr>
              <a:t>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MATLAB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 err="1">
                <a:latin typeface="Consolas"/>
                <a:ea typeface="+mn-lt"/>
                <a:cs typeface="+mn-lt"/>
              </a:rPr>
              <a:t>dri</a:t>
            </a:r>
            <a:r>
              <a:rPr lang="zh-CN">
                <a:latin typeface="Consolas"/>
                <a:ea typeface="+mn-lt"/>
                <a:cs typeface="+mn-lt"/>
              </a:rPr>
              <a:t>vi</a:t>
            </a:r>
            <a:r>
              <a:rPr lang="en-US" altLang="zh-CN" err="1">
                <a:latin typeface="Consolas"/>
                <a:ea typeface="+mn-lt"/>
                <a:cs typeface="+mn-lt"/>
              </a:rPr>
              <a:t>ngScenario</a:t>
            </a:r>
            <a:endParaRPr lang="zh-CN" altLang="en-US" err="1"/>
          </a:p>
          <a:p>
            <a:r>
              <a:rPr lang="en-US" altLang="zh-CN">
                <a:ea typeface="+mn-lt"/>
                <a:cs typeface="+mn-lt"/>
              </a:rPr>
              <a:t>G</a:t>
            </a:r>
            <a:r>
              <a:rPr lang="zh-CN">
                <a:ea typeface="+mn-lt"/>
                <a:cs typeface="+mn-lt"/>
              </a:rPr>
              <a:t>ro</a:t>
            </a:r>
            <a:r>
              <a:rPr lang="en-US" altLang="zh-CN">
                <a:ea typeface="+mn-lt"/>
                <a:cs typeface="+mn-lt"/>
              </a:rPr>
              <a:t>und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truth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position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is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know</a:t>
            </a:r>
            <a:r>
              <a:rPr lang="zh-CN">
                <a:ea typeface="+mn-lt"/>
                <a:cs typeface="+mn-lt"/>
              </a:rPr>
              <a:t>n</a:t>
            </a:r>
            <a:endParaRPr lang="zh-CN" altLang="en-US">
              <a:ea typeface="+mn-lt"/>
              <a:cs typeface="+mn-lt"/>
            </a:endParaRPr>
          </a:p>
          <a:p>
            <a:r>
              <a:rPr lang="en-US" altLang="zh-CN">
                <a:ea typeface="+mn-lt"/>
                <a:cs typeface="+mn-lt"/>
              </a:rPr>
              <a:t>GPS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measure</a:t>
            </a:r>
            <a:r>
              <a:rPr lang="zh-CN">
                <a:ea typeface="+mn-lt"/>
                <a:cs typeface="+mn-lt"/>
              </a:rPr>
              <a:t>ment</a:t>
            </a:r>
            <a:r>
              <a:rPr lang="en-US" altLang="zh-CN">
                <a:ea typeface="+mn-lt"/>
                <a:cs typeface="+mn-lt"/>
              </a:rPr>
              <a:t>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corrupted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with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Ga</a:t>
            </a:r>
            <a:r>
              <a:rPr lang="zh-CN">
                <a:ea typeface="+mn-lt"/>
                <a:cs typeface="+mn-lt"/>
              </a:rPr>
              <a:t>us</a:t>
            </a:r>
            <a:r>
              <a:rPr lang="en-US" altLang="zh-CN" err="1">
                <a:ea typeface="+mn-lt"/>
                <a:cs typeface="+mn-lt"/>
              </a:rPr>
              <a:t>sian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no</a:t>
            </a:r>
            <a:r>
              <a:rPr lang="zh-CN">
                <a:ea typeface="+mn-lt"/>
                <a:cs typeface="+mn-lt"/>
              </a:rPr>
              <a:t>is</a:t>
            </a:r>
            <a:r>
              <a:rPr lang="en-US" altLang="zh-CN">
                <a:ea typeface="+mn-lt"/>
                <a:cs typeface="+mn-lt"/>
              </a:rPr>
              <a:t>e</a:t>
            </a:r>
            <a:endParaRPr lang="en-US">
              <a:ea typeface="+mn-lt"/>
              <a:cs typeface="+mn-lt"/>
            </a:endParaRPr>
          </a:p>
          <a:p>
            <a:r>
              <a:rPr lang="en-US" altLang="zh-CN">
                <a:ea typeface="+mn-lt"/>
                <a:cs typeface="+mn-lt"/>
              </a:rPr>
              <a:t>Sta</a:t>
            </a:r>
            <a:r>
              <a:rPr lang="zh-CN">
                <a:ea typeface="+mn-lt"/>
                <a:cs typeface="+mn-lt"/>
              </a:rPr>
              <a:t>nd</a:t>
            </a:r>
            <a:r>
              <a:rPr lang="en-US" altLang="zh-CN">
                <a:ea typeface="+mn-lt"/>
                <a:cs typeface="+mn-lt"/>
              </a:rPr>
              <a:t>a</a:t>
            </a:r>
            <a:r>
              <a:rPr lang="zh-CN">
                <a:ea typeface="+mn-lt"/>
                <a:cs typeface="+mn-lt"/>
              </a:rPr>
              <a:t>r</a:t>
            </a:r>
            <a:r>
              <a:rPr lang="en-US" altLang="zh-CN">
                <a:ea typeface="+mn-lt"/>
                <a:cs typeface="+mn-lt"/>
              </a:rPr>
              <a:t>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dev</a:t>
            </a:r>
            <a:r>
              <a:rPr lang="zh-CN">
                <a:ea typeface="+mn-lt"/>
                <a:cs typeface="+mn-lt"/>
              </a:rPr>
              <a:t>i</a:t>
            </a:r>
            <a:r>
              <a:rPr lang="en-US" altLang="zh-CN" err="1">
                <a:ea typeface="+mn-lt"/>
                <a:cs typeface="+mn-lt"/>
              </a:rPr>
              <a:t>ation</a:t>
            </a:r>
            <a:r>
              <a:rPr lang="en-US" altLang="zh-CN">
                <a:ea typeface="+mn-lt"/>
                <a:cs typeface="+mn-lt"/>
              </a:rPr>
              <a:t>: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5</a:t>
            </a:r>
            <a:r>
              <a:rPr lang="zh-CN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m</a:t>
            </a:r>
            <a:endParaRPr lang="en-US"/>
          </a:p>
          <a:p>
            <a:r>
              <a:rPr lang="en-US" altLang="zh-CN">
                <a:ea typeface="+mn-lt"/>
                <a:cs typeface="+mn-lt"/>
              </a:rPr>
              <a:t>Object</a:t>
            </a:r>
            <a:r>
              <a:rPr lang="zh-CN">
                <a:ea typeface="+mn-lt"/>
                <a:cs typeface="+mn-lt"/>
              </a:rPr>
              <a:t>ive</a:t>
            </a:r>
            <a:r>
              <a:rPr lang="en-US" altLang="zh-CN">
                <a:ea typeface="+mn-lt"/>
                <a:cs typeface="+mn-lt"/>
              </a:rPr>
              <a:t>: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reduce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G</a:t>
            </a:r>
            <a:r>
              <a:rPr lang="zh-CN">
                <a:ea typeface="+mn-lt"/>
                <a:cs typeface="+mn-lt"/>
              </a:rPr>
              <a:t>P</a:t>
            </a:r>
            <a:r>
              <a:rPr lang="en-US" altLang="zh-CN">
                <a:ea typeface="+mn-lt"/>
                <a:cs typeface="+mn-lt"/>
              </a:rPr>
              <a:t>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error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us</a:t>
            </a:r>
            <a:r>
              <a:rPr lang="zh-CN">
                <a:ea typeface="+mn-lt"/>
                <a:cs typeface="+mn-lt"/>
              </a:rPr>
              <a:t>ing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a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mod</a:t>
            </a:r>
            <a:r>
              <a:rPr lang="zh-CN">
                <a:ea typeface="+mn-lt"/>
                <a:cs typeface="+mn-lt"/>
              </a:rPr>
              <a:t>e</a:t>
            </a:r>
            <a:r>
              <a:rPr lang="en-US" altLang="zh-CN">
                <a:ea typeface="+mn-lt"/>
                <a:cs typeface="+mn-lt"/>
              </a:rPr>
              <a:t>l-b</a:t>
            </a:r>
            <a:r>
              <a:rPr lang="zh-CN">
                <a:ea typeface="+mn-lt"/>
                <a:cs typeface="+mn-lt"/>
              </a:rPr>
              <a:t>a</a:t>
            </a:r>
            <a:r>
              <a:rPr lang="en-US" altLang="zh-CN">
                <a:ea typeface="+mn-lt"/>
                <a:cs typeface="+mn-lt"/>
              </a:rPr>
              <a:t>sed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t</a:t>
            </a:r>
            <a:r>
              <a:rPr lang="zh-CN">
                <a:ea typeface="+mn-lt"/>
                <a:cs typeface="+mn-lt"/>
              </a:rPr>
              <a:t>r</a:t>
            </a:r>
            <a:r>
              <a:rPr lang="en-US" altLang="zh-CN" err="1">
                <a:ea typeface="+mn-lt"/>
                <a:cs typeface="+mn-lt"/>
              </a:rPr>
              <a:t>acking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f</a:t>
            </a:r>
            <a:r>
              <a:rPr lang="zh-CN">
                <a:ea typeface="+mn-lt"/>
                <a:cs typeface="+mn-lt"/>
              </a:rPr>
              <a:t>i</a:t>
            </a:r>
            <a:r>
              <a:rPr lang="en-US" altLang="zh-CN" err="1">
                <a:ea typeface="+mn-lt"/>
                <a:cs typeface="+mn-lt"/>
              </a:rPr>
              <a:t>lter</a:t>
            </a:r>
            <a:endParaRPr lang="en-US" err="1"/>
          </a:p>
          <a:p>
            <a:endParaRPr lang="zh-CN" altLang="en-US" b="1">
              <a:latin typeface="Consolas"/>
              <a:ea typeface="宋体"/>
              <a:cs typeface="+mn-lt"/>
            </a:endParaRPr>
          </a:p>
          <a:p>
            <a:pPr marL="0" indent="0">
              <a:buNone/>
            </a:pPr>
            <a:endParaRPr lang="en-US">
              <a:ea typeface="宋体"/>
            </a:endParaRPr>
          </a:p>
          <a:p>
            <a:pPr>
              <a:buFont typeface="Arial"/>
              <a:buChar char="•"/>
            </a:pPr>
            <a:endParaRPr lang="en-US" sz="3600">
              <a:latin typeface="Consolas"/>
            </a:endParaRPr>
          </a:p>
          <a:p>
            <a:pPr marL="0" indent="0">
              <a:buNone/>
            </a:pP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77241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7CAFB-F245-CDD9-953C-3D74E286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sz="40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Ego Vehicle Modeling</a:t>
            </a:r>
            <a:endParaRPr lang="zh-CN" sz="40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A276EB-9084-6369-A581-85456E81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739"/>
            <a:ext cx="10515600" cy="16915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>
                <a:ea typeface="+mn-lt"/>
                <a:cs typeface="+mn-lt"/>
              </a:rPr>
              <a:t>Create an ego vehicle as the main controlled object</a:t>
            </a:r>
            <a:endParaRPr lang="zh-CN" altLang="en-US"/>
          </a:p>
          <a:p>
            <a:r>
              <a:rPr lang="zh-CN">
                <a:ea typeface="+mn-lt"/>
                <a:cs typeface="+mn-lt"/>
              </a:rPr>
              <a:t>Vehicle type: passenger car</a:t>
            </a:r>
            <a:endParaRPr lang="zh-CN"/>
          </a:p>
          <a:p>
            <a:r>
              <a:rPr lang="zh-CN">
                <a:ea typeface="+mn-lt"/>
                <a:cs typeface="+mn-lt"/>
              </a:rPr>
              <a:t>Define initial position and vehicle mesh</a:t>
            </a:r>
            <a:endParaRPr lang="zh-CN"/>
          </a:p>
          <a:p>
            <a:endParaRPr lang="zh-CN" altLang="en-US">
              <a:ea typeface="宋体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9500BA5-BCCE-1265-4388-E59451A8E4B4}"/>
              </a:ext>
            </a:extLst>
          </p:cNvPr>
          <p:cNvSpPr>
            <a:spLocks noGrp="1"/>
          </p:cNvSpPr>
          <p:nvPr/>
        </p:nvSpPr>
        <p:spPr>
          <a:xfrm>
            <a:off x="838200" y="32118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40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Trajectory Planning</a:t>
            </a:r>
            <a:endParaRPr lang="zh-CN" sz="40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0CCF25C-258D-CAF1-A5D7-6861BF205A9B}"/>
              </a:ext>
            </a:extLst>
          </p:cNvPr>
          <p:cNvSpPr>
            <a:spLocks noGrp="1"/>
          </p:cNvSpPr>
          <p:nvPr/>
        </p:nvSpPr>
        <p:spPr>
          <a:xfrm>
            <a:off x="838200" y="4600456"/>
            <a:ext cx="10515600" cy="16627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>
                <a:ea typeface="+mn-lt"/>
                <a:cs typeface="+mn-lt"/>
              </a:rPr>
              <a:t>Waypoints define the vehicle driving path</a:t>
            </a:r>
            <a:endParaRPr lang="zh-CN" altLang="en-US"/>
          </a:p>
          <a:p>
            <a:r>
              <a:rPr lang="zh-CN">
                <a:ea typeface="+mn-lt"/>
                <a:cs typeface="+mn-lt"/>
              </a:rPr>
              <a:t>The ego vehicle follows the waypoints sequentially</a:t>
            </a:r>
            <a:endParaRPr lang="zh-CN"/>
          </a:p>
          <a:p>
            <a:r>
              <a:rPr lang="zh-CN">
                <a:ea typeface="+mn-lt"/>
                <a:cs typeface="+mn-lt"/>
              </a:rPr>
              <a:t>Constant speed is applied along the trajectory</a:t>
            </a:r>
            <a:endParaRPr lang="zh-CN"/>
          </a:p>
          <a:p>
            <a:endParaRPr lang="zh-CN" altLang="en-US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277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718AE-C6AE-3ECE-E6DE-9E5E7F305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Plan A: </a:t>
            </a:r>
            <a:br>
              <a:rPr lang="en-US" sz="54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</a:br>
            <a:r>
              <a:rPr lang="en-US" sz="54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Traditional Method</a:t>
            </a:r>
            <a:endParaRPr lang="en-US" sz="5400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71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C6729-B1CF-AC6B-DBB1-9B2716F8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83" y="-273307"/>
            <a:ext cx="10515600" cy="1325563"/>
          </a:xfrm>
        </p:spPr>
        <p:txBody>
          <a:bodyPr/>
          <a:lstStyle/>
          <a:p>
            <a:r>
              <a:rPr lang="en-US" sz="32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Traditional Baseline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7CEE8-A200-544B-E8A2-C0AB1264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021" y="1050428"/>
            <a:ext cx="10515600" cy="21726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Simulate a vehicle trajectory using a driving scenario</a:t>
            </a:r>
            <a:endParaRPr lang="en-US" altLang="zh-CN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Generate noisy GPS-like position measurements</a:t>
            </a:r>
            <a:endParaRPr lang="en-US" altLang="zh-CN"/>
          </a:p>
          <a:p>
            <a:r>
              <a:rPr lang="en-US">
                <a:ea typeface="+mn-lt"/>
                <a:cs typeface="+mn-lt"/>
              </a:rPr>
              <a:t>Estimate the true trajectory using a classical state estimation approach</a:t>
            </a:r>
            <a:endParaRPr lang="en-US" altLang="zh-CN"/>
          </a:p>
          <a:p>
            <a:endParaRPr lang="zh-CN" altLang="en-US">
              <a:ea typeface="宋体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713E262-8F4F-C992-2CB3-EBE67E4602BA}"/>
              </a:ext>
            </a:extLst>
          </p:cNvPr>
          <p:cNvSpPr txBox="1">
            <a:spLocks/>
          </p:cNvSpPr>
          <p:nvPr/>
        </p:nvSpPr>
        <p:spPr>
          <a:xfrm>
            <a:off x="898306" y="30024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Data Generation</a:t>
            </a:r>
            <a:endParaRPr lang="en-US" altLang="zh-CN" sz="32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538836B-B1D5-843F-0E36-4BB7093D8349}"/>
              </a:ext>
            </a:extLst>
          </p:cNvPr>
          <p:cNvSpPr txBox="1">
            <a:spLocks/>
          </p:cNvSpPr>
          <p:nvPr/>
        </p:nvSpPr>
        <p:spPr>
          <a:xfrm>
            <a:off x="904771" y="4321996"/>
            <a:ext cx="10515600" cy="1030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err="1">
                <a:ea typeface="+mn-lt"/>
                <a:cs typeface="+mn-lt"/>
              </a:rPr>
              <a:t>Grou</a:t>
            </a:r>
            <a:r>
              <a:rPr lang="zh-CN">
                <a:ea typeface="+mn-lt"/>
                <a:cs typeface="+mn-lt"/>
              </a:rPr>
              <a:t>nd </a:t>
            </a:r>
            <a:r>
              <a:rPr lang="en-US" altLang="zh-CN">
                <a:ea typeface="+mn-lt"/>
                <a:cs typeface="+mn-lt"/>
              </a:rPr>
              <a:t>truth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 err="1">
                <a:ea typeface="+mn-lt"/>
                <a:cs typeface="+mn-lt"/>
              </a:rPr>
              <a:t>obta</a:t>
            </a:r>
            <a:r>
              <a:rPr lang="zh-CN">
                <a:ea typeface="+mn-lt"/>
                <a:cs typeface="+mn-lt"/>
              </a:rPr>
              <a:t>in</a:t>
            </a:r>
            <a:r>
              <a:rPr lang="en-US" altLang="zh-CN">
                <a:ea typeface="+mn-lt"/>
                <a:cs typeface="+mn-lt"/>
              </a:rPr>
              <a:t>ed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 err="1">
                <a:ea typeface="+mn-lt"/>
                <a:cs typeface="+mn-lt"/>
              </a:rPr>
              <a:t>fr</a:t>
            </a:r>
            <a:r>
              <a:rPr lang="zh-CN">
                <a:ea typeface="+mn-lt"/>
                <a:cs typeface="+mn-lt"/>
              </a:rPr>
              <a:t>om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zh-CN">
                <a:latin typeface="Consolas"/>
                <a:ea typeface="+mn-lt"/>
                <a:cs typeface="+mn-lt"/>
              </a:rPr>
              <a:t>e</a:t>
            </a:r>
            <a:r>
              <a:rPr lang="en-US" altLang="zh-CN" err="1">
                <a:latin typeface="Consolas"/>
                <a:ea typeface="+mn-lt"/>
                <a:cs typeface="+mn-lt"/>
              </a:rPr>
              <a:t>goV</a:t>
            </a:r>
            <a:r>
              <a:rPr lang="zh-CN">
                <a:latin typeface="Consolas"/>
                <a:ea typeface="+mn-lt"/>
                <a:cs typeface="+mn-lt"/>
              </a:rPr>
              <a:t>e</a:t>
            </a:r>
            <a:r>
              <a:rPr lang="en-US" altLang="zh-CN" err="1">
                <a:latin typeface="Consolas"/>
                <a:ea typeface="+mn-lt"/>
                <a:cs typeface="+mn-lt"/>
              </a:rPr>
              <a:t>hicle.Positio</a:t>
            </a:r>
            <a:r>
              <a:rPr lang="zh-CN">
                <a:latin typeface="Consolas"/>
                <a:ea typeface="+mn-lt"/>
                <a:cs typeface="+mn-lt"/>
              </a:rPr>
              <a:t>n</a:t>
            </a:r>
            <a:endParaRPr lang="zh-CN" altLang="en-US">
              <a:latin typeface="Consolas"/>
              <a:ea typeface="宋体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Automatic selection of the dominant 2D motion plane</a:t>
            </a:r>
            <a:endParaRPr lang="zh-CN" altLang="en-US">
              <a:ea typeface="宋体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05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388B5-9C86-1F1E-97B6-A54FBCEE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953" y="386002"/>
            <a:ext cx="10515600" cy="1325563"/>
          </a:xfrm>
        </p:spPr>
        <p:txBody>
          <a:bodyPr/>
          <a:lstStyle/>
          <a:p>
            <a:r>
              <a:rPr lang="en-US" alt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Fi</a:t>
            </a:r>
            <a:r>
              <a:rPr 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l</a:t>
            </a:r>
            <a:r>
              <a:rPr lang="en-US" alt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t</a:t>
            </a:r>
            <a:r>
              <a:rPr 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e</a:t>
            </a:r>
            <a:r>
              <a:rPr lang="en-US" altLang="zh-CN" sz="3800" err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ri</a:t>
            </a:r>
            <a:r>
              <a:rPr 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n</a:t>
            </a:r>
            <a:r>
              <a:rPr lang="en-US" alt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g</a:t>
            </a:r>
            <a:r>
              <a:rPr lang="zh-CN" altLang="en-US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 </a:t>
            </a:r>
            <a:r>
              <a:rPr lang="en-US" alt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M</a:t>
            </a:r>
            <a:r>
              <a:rPr 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et</a:t>
            </a:r>
            <a:r>
              <a:rPr lang="en-US" altLang="zh-CN" sz="3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hod</a:t>
            </a:r>
            <a:endParaRPr lang="en-US" altLang="zh-CN" sz="38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3EB60-F637-CCE3-6DB6-941639EB9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077" y="139014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I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ntera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c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t</a:t>
            </a:r>
            <a:r>
              <a:rPr lang="en-US" altLang="zh-CN" sz="2700" b="1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ing</a:t>
            </a:r>
            <a:r>
              <a:rPr lang="zh-CN" altLang="en-US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M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u</a:t>
            </a:r>
            <a:r>
              <a:rPr lang="en-US" altLang="zh-CN" sz="2700" b="1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lti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p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le</a:t>
            </a:r>
            <a:r>
              <a:rPr lang="zh-CN" altLang="en-US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Mo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d</a:t>
            </a:r>
            <a:r>
              <a:rPr lang="en-US" altLang="zh-CN" sz="2700" b="1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el</a:t>
            </a:r>
            <a:r>
              <a:rPr lang="zh-CN" altLang="en-US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(IMM)</a:t>
            </a:r>
            <a:r>
              <a:rPr lang="zh-CN" altLang="en-US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fil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te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r</a:t>
            </a:r>
            <a:r>
              <a:rPr lang="zh-CN" altLang="en-US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w</a:t>
            </a:r>
            <a:r>
              <a:rPr 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i</a:t>
            </a:r>
            <a:r>
              <a:rPr lang="en-US" altLang="zh-CN" sz="2700" b="1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th</a:t>
            </a:r>
            <a:r>
              <a:rPr lang="en-US" altLang="zh-CN" sz="2700" b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:</a:t>
            </a:r>
            <a:endParaRPr lang="zh-CN" altLang="en-US" sz="2700" b="1">
              <a:solidFill>
                <a:schemeClr val="tx1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  <a:p>
            <a:r>
              <a:rPr lang="en-US" altLang="zh-CN" sz="2700">
                <a:ea typeface="+mn-lt"/>
                <a:cs typeface="+mn-lt"/>
              </a:rPr>
              <a:t>Cons</a:t>
            </a:r>
            <a:r>
              <a:rPr lang="zh-CN" sz="2700">
                <a:ea typeface="+mn-lt"/>
                <a:cs typeface="+mn-lt"/>
              </a:rPr>
              <a:t>tant</a:t>
            </a:r>
            <a:r>
              <a:rPr lang="zh-CN" altLang="en-US" sz="2700">
                <a:ea typeface="+mn-lt"/>
                <a:cs typeface="+mn-lt"/>
              </a:rPr>
              <a:t> </a:t>
            </a:r>
            <a:r>
              <a:rPr lang="en-US" altLang="zh-CN" sz="2700" err="1">
                <a:ea typeface="+mn-lt"/>
                <a:cs typeface="+mn-lt"/>
              </a:rPr>
              <a:t>Veloc</a:t>
            </a:r>
            <a:r>
              <a:rPr lang="zh-CN" sz="2700">
                <a:ea typeface="+mn-lt"/>
                <a:cs typeface="+mn-lt"/>
              </a:rPr>
              <a:t>it</a:t>
            </a:r>
            <a:r>
              <a:rPr lang="en-US" altLang="zh-CN" sz="2700">
                <a:ea typeface="+mn-lt"/>
                <a:cs typeface="+mn-lt"/>
              </a:rPr>
              <a:t>y</a:t>
            </a:r>
            <a:r>
              <a:rPr lang="zh-CN" altLang="en-US" sz="2700">
                <a:ea typeface="+mn-lt"/>
                <a:cs typeface="+mn-lt"/>
              </a:rPr>
              <a:t> </a:t>
            </a:r>
            <a:r>
              <a:rPr lang="en-US" altLang="zh-CN" sz="2700">
                <a:ea typeface="+mn-lt"/>
                <a:cs typeface="+mn-lt"/>
              </a:rPr>
              <a:t>(CV)</a:t>
            </a:r>
            <a:r>
              <a:rPr lang="zh-CN" altLang="en-US" sz="2700">
                <a:ea typeface="+mn-lt"/>
                <a:cs typeface="+mn-lt"/>
              </a:rPr>
              <a:t> </a:t>
            </a:r>
            <a:r>
              <a:rPr lang="en-US" altLang="zh-CN" sz="2700">
                <a:ea typeface="+mn-lt"/>
                <a:cs typeface="+mn-lt"/>
              </a:rPr>
              <a:t>mod</a:t>
            </a:r>
            <a:r>
              <a:rPr lang="zh-CN" sz="2700">
                <a:ea typeface="+mn-lt"/>
                <a:cs typeface="+mn-lt"/>
              </a:rPr>
              <a:t>el</a:t>
            </a:r>
          </a:p>
          <a:p>
            <a:r>
              <a:rPr lang="en-US" altLang="zh-CN" sz="2700">
                <a:ea typeface="+mn-lt"/>
                <a:cs typeface="+mn-lt"/>
              </a:rPr>
              <a:t>Con</a:t>
            </a:r>
            <a:r>
              <a:rPr lang="zh-CN" sz="2700">
                <a:ea typeface="+mn-lt"/>
                <a:cs typeface="+mn-lt"/>
              </a:rPr>
              <a:t>sta</a:t>
            </a:r>
            <a:r>
              <a:rPr lang="en-US" altLang="zh-CN" sz="2700">
                <a:ea typeface="+mn-lt"/>
                <a:cs typeface="+mn-lt"/>
              </a:rPr>
              <a:t>n</a:t>
            </a:r>
            <a:r>
              <a:rPr lang="zh-CN" sz="2700">
                <a:ea typeface="+mn-lt"/>
                <a:cs typeface="+mn-lt"/>
              </a:rPr>
              <a:t>t</a:t>
            </a:r>
            <a:r>
              <a:rPr lang="zh-CN" altLang="en-US" sz="2700">
                <a:ea typeface="+mn-lt"/>
                <a:cs typeface="+mn-lt"/>
              </a:rPr>
              <a:t> </a:t>
            </a:r>
            <a:r>
              <a:rPr lang="en-US" altLang="zh-CN" sz="2700">
                <a:ea typeface="+mn-lt"/>
                <a:cs typeface="+mn-lt"/>
              </a:rPr>
              <a:t>Acc</a:t>
            </a:r>
            <a:r>
              <a:rPr lang="zh-CN" sz="2700">
                <a:ea typeface="+mn-lt"/>
                <a:cs typeface="+mn-lt"/>
              </a:rPr>
              <a:t>e</a:t>
            </a:r>
            <a:r>
              <a:rPr lang="en-US" altLang="zh-CN" sz="2700">
                <a:ea typeface="+mn-lt"/>
                <a:cs typeface="+mn-lt"/>
              </a:rPr>
              <a:t>l</a:t>
            </a:r>
            <a:r>
              <a:rPr lang="zh-CN" sz="2700">
                <a:ea typeface="+mn-lt"/>
                <a:cs typeface="+mn-lt"/>
              </a:rPr>
              <a:t>e</a:t>
            </a:r>
            <a:r>
              <a:rPr lang="en-US" altLang="zh-CN" sz="2700">
                <a:ea typeface="+mn-lt"/>
                <a:cs typeface="+mn-lt"/>
              </a:rPr>
              <a:t>r</a:t>
            </a:r>
            <a:r>
              <a:rPr lang="zh-CN" sz="2700">
                <a:ea typeface="+mn-lt"/>
                <a:cs typeface="+mn-lt"/>
              </a:rPr>
              <a:t>ation</a:t>
            </a:r>
            <a:r>
              <a:rPr lang="zh-CN" altLang="en-US" sz="2700">
                <a:ea typeface="+mn-lt"/>
                <a:cs typeface="+mn-lt"/>
              </a:rPr>
              <a:t> </a:t>
            </a:r>
            <a:r>
              <a:rPr lang="en-US" altLang="zh-CN" sz="2700">
                <a:ea typeface="+mn-lt"/>
                <a:cs typeface="+mn-lt"/>
              </a:rPr>
              <a:t>(CA)</a:t>
            </a:r>
            <a:r>
              <a:rPr lang="zh-CN" altLang="en-US" sz="2700">
                <a:ea typeface="+mn-lt"/>
                <a:cs typeface="+mn-lt"/>
              </a:rPr>
              <a:t> </a:t>
            </a:r>
            <a:r>
              <a:rPr lang="zh-CN" sz="2700">
                <a:ea typeface="+mn-lt"/>
                <a:cs typeface="+mn-lt"/>
              </a:rPr>
              <a:t>m</a:t>
            </a:r>
            <a:r>
              <a:rPr lang="en-US" altLang="zh-CN" sz="2700">
                <a:ea typeface="+mn-lt"/>
                <a:cs typeface="+mn-lt"/>
              </a:rPr>
              <a:t>od</a:t>
            </a:r>
            <a:r>
              <a:rPr lang="zh-CN" sz="2700">
                <a:ea typeface="+mn-lt"/>
                <a:cs typeface="+mn-lt"/>
              </a:rPr>
              <a:t>e</a:t>
            </a:r>
            <a:r>
              <a:rPr lang="en-US" altLang="zh-CN" sz="2700">
                <a:ea typeface="+mn-lt"/>
                <a:cs typeface="+mn-lt"/>
              </a:rPr>
              <a:t>l</a:t>
            </a:r>
            <a:endParaRPr lang="en-US" altLang="zh-CN" sz="2700">
              <a:ea typeface="宋体"/>
            </a:endParaRPr>
          </a:p>
          <a:p>
            <a:r>
              <a:rPr lang="en-US" sz="2700">
                <a:ea typeface="+mn-lt"/>
                <a:cs typeface="+mn-lt"/>
              </a:rPr>
              <a:t>Model transition probabilities fixed a priority</a:t>
            </a:r>
            <a:endParaRPr lang="en-US" sz="2700">
              <a:ea typeface="宋体"/>
            </a:endParaRPr>
          </a:p>
          <a:p>
            <a:r>
              <a:rPr lang="en-US" sz="2700">
                <a:ea typeface="+mn-lt"/>
                <a:cs typeface="+mn-lt"/>
              </a:rPr>
              <a:t>Measurement update with NIS-based gating</a:t>
            </a:r>
            <a:endParaRPr lang="en-US" sz="2700">
              <a:ea typeface="宋体"/>
            </a:endParaRPr>
          </a:p>
          <a:p>
            <a:endParaRPr lang="en-US" sz="2700">
              <a:ea typeface="宋体"/>
            </a:endParaRPr>
          </a:p>
          <a:p>
            <a:endParaRPr lang="en-US" sz="2700">
              <a:ea typeface="宋体"/>
            </a:endParaRPr>
          </a:p>
          <a:p>
            <a:endParaRPr lang="en-US" sz="2700">
              <a:ea typeface="宋体"/>
            </a:endParaRPr>
          </a:p>
          <a:p>
            <a:endParaRPr lang="en-US">
              <a:ea typeface="宋体"/>
            </a:endParaRPr>
          </a:p>
          <a:p>
            <a:endParaRPr lang="en-US">
              <a:ea typeface="宋体"/>
            </a:endParaRPr>
          </a:p>
          <a:p>
            <a:endParaRPr lang="en-US" altLang="zh-CN">
              <a:ea typeface="宋体"/>
            </a:endParaRPr>
          </a:p>
          <a:p>
            <a:pPr marL="0" indent="0">
              <a:buNone/>
            </a:pPr>
            <a:endParaRPr lang="zh-CN" altLang="en-US">
              <a:ea typeface="宋体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E074443-6144-C478-6C37-60B2EF6387C2}"/>
              </a:ext>
            </a:extLst>
          </p:cNvPr>
          <p:cNvSpPr txBox="1">
            <a:spLocks/>
          </p:cNvSpPr>
          <p:nvPr/>
        </p:nvSpPr>
        <p:spPr>
          <a:xfrm>
            <a:off x="895102" y="3956428"/>
            <a:ext cx="10515600" cy="635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Statistical Consistency</a:t>
            </a:r>
            <a:endParaRPr lang="en-US" altLang="zh-CN" sz="37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BD471B5-79E5-7DF8-6668-E424D3462686}"/>
              </a:ext>
            </a:extLst>
          </p:cNvPr>
          <p:cNvSpPr txBox="1">
            <a:spLocks/>
          </p:cNvSpPr>
          <p:nvPr/>
        </p:nvSpPr>
        <p:spPr>
          <a:xfrm>
            <a:off x="895101" y="4410250"/>
            <a:ext cx="10515600" cy="179057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NIS evaluated at each time step</a:t>
            </a:r>
            <a:endParaRPr lang="zh-CN" altLang="en-US">
              <a:ea typeface="宋体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Mean NIS close to theoretical expectation</a:t>
            </a:r>
            <a:r>
              <a:rPr lang="en-US" altLang="zh-CN">
                <a:ea typeface="+mn-lt"/>
                <a:cs typeface="+mn-lt"/>
              </a:rPr>
              <a:t>,</a:t>
            </a:r>
            <a:r>
              <a:rPr lang="en-US">
                <a:ea typeface="+mn-lt"/>
                <a:cs typeface="+mn-lt"/>
              </a:rPr>
              <a:t> indicating a well-tuned filter</a:t>
            </a:r>
            <a:endParaRPr lang="zh-CN" altLang="en-US">
              <a:ea typeface="宋体"/>
            </a:endParaRPr>
          </a:p>
          <a:p>
            <a:endParaRPr lang="zh-CN" altLang="en-US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71614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8AA8B-FE03-0981-43C4-36F887B8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Results</a:t>
            </a:r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1</a:t>
            </a:r>
            <a:b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</a:br>
            <a:br>
              <a:rPr lang="en-US" altLang="zh-CN" sz="4000" b="1">
                <a:ea typeface="宋体"/>
              </a:rPr>
            </a:br>
            <a:endParaRPr lang="en-US" altLang="zh-CN" sz="4000" b="1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3" name="Picture 2" descr="A graph of a method tracking&#10;&#10;AI-generated content may be incorrect.">
            <a:extLst>
              <a:ext uri="{FF2B5EF4-FFF2-40B4-BE49-F238E27FC236}">
                <a16:creationId xmlns:a16="http://schemas.microsoft.com/office/drawing/2014/main" id="{106F123E-2CE3-2839-D982-C353DD6AF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084" y="1198714"/>
            <a:ext cx="7900270" cy="525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67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37F2560-1D86-BF0A-8C43-ED40C9A8CA7D}"/>
              </a:ext>
            </a:extLst>
          </p:cNvPr>
          <p:cNvSpPr txBox="1">
            <a:spLocks/>
          </p:cNvSpPr>
          <p:nvPr/>
        </p:nvSpPr>
        <p:spPr>
          <a:xfrm>
            <a:off x="708764" y="3922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Results</a:t>
            </a:r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2</a:t>
            </a:r>
            <a:b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</a:br>
            <a:br>
              <a:rPr lang="en-US" altLang="zh-CN" sz="4000" b="1">
                <a:ea typeface="宋体"/>
              </a:rPr>
            </a:br>
            <a:endParaRPr lang="en-US" altLang="zh-CN" sz="4000" b="1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1F8C1-D7DA-4C8F-91AE-6980B8E31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962" y="1219591"/>
            <a:ext cx="7954680" cy="523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33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167F3-6CB0-DC5B-228C-E51579D5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4000" b="1">
                <a:solidFill>
                  <a:schemeClr val="tx1">
                    <a:lumMod val="49000"/>
                    <a:lumOff val="51000"/>
                  </a:schemeClr>
                </a:solidFill>
                <a:highlight>
                  <a:srgbClr val="F5F5F5"/>
                </a:highlight>
                <a:ea typeface="宋体"/>
              </a:rPr>
              <a:t>Results</a:t>
            </a:r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highlight>
                  <a:srgbClr val="F5F5F5"/>
                </a:highlight>
                <a:ea typeface="宋体"/>
              </a:rPr>
              <a:t>3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131D3CBE-1FF7-AC31-0A0D-287D40845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547574"/>
              </p:ext>
            </p:extLst>
          </p:nvPr>
        </p:nvGraphicFramePr>
        <p:xfrm>
          <a:off x="838200" y="1825625"/>
          <a:ext cx="10515600" cy="365643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471012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936998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83449860"/>
                    </a:ext>
                  </a:extLst>
                </a:gridCol>
              </a:tblGrid>
              <a:tr h="609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 err="1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 err="1"/>
                        <a:t>Noisy</a:t>
                      </a:r>
                      <a:r>
                        <a:rPr lang="af-ZA" b="1"/>
                        <a:t> 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b="1" err="1"/>
                        <a:t>Traditional</a:t>
                      </a:r>
                      <a:r>
                        <a:rPr lang="af-ZA" b="1"/>
                        <a:t> </a:t>
                      </a:r>
                      <a:r>
                        <a:rPr lang="af-ZA" b="1" err="1"/>
                        <a:t>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288605"/>
                  </a:ext>
                </a:extLst>
              </a:tr>
              <a:tr h="609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/>
                        <a:t>RMSE [m]</a:t>
                      </a:r>
                      <a:endParaRPr lang="af-ZA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7.1674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1.9211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254523"/>
                  </a:ext>
                </a:extLst>
              </a:tr>
              <a:tr h="609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/>
                        <a:t>MAE [m]</a:t>
                      </a:r>
                      <a:endParaRPr lang="af-ZA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6.3535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1.7107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885301"/>
                  </a:ext>
                </a:extLst>
              </a:tr>
              <a:tr h="609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/>
                        <a:t>MAX [m]</a:t>
                      </a:r>
                      <a:endParaRPr lang="af-ZA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16.8064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4.3493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0690007"/>
                  </a:ext>
                </a:extLst>
              </a:tr>
              <a:tr h="609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err="1"/>
                        <a:t>Bias</a:t>
                      </a:r>
                      <a:r>
                        <a:rPr lang="af-ZA"/>
                        <a:t> X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-0.0005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0.1800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096018"/>
                  </a:ext>
                </a:extLst>
              </a:tr>
              <a:tr h="609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err="1"/>
                        <a:t>Bias</a:t>
                      </a:r>
                      <a:r>
                        <a:rPr lang="af-ZA"/>
                        <a:t> Y [m]</a:t>
                      </a:r>
                      <a:endParaRPr lang="af-ZA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0.1159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-0.0226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654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03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A115-1DD0-6BBB-7BFF-55905B6E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59CD1-C6AF-3734-8E55-6704A1932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73415" cy="2303967"/>
          </a:xfrm>
        </p:spPr>
        <p:txBody>
          <a:bodyPr/>
          <a:lstStyle/>
          <a:p>
            <a:r>
              <a:rPr lang="en-US" sz="4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Plan B: </a:t>
            </a:r>
            <a:br>
              <a:rPr lang="en-US" sz="4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</a:br>
            <a:r>
              <a:rPr lang="en-US" sz="4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Unsupervised Learning (</a:t>
            </a:r>
            <a:r>
              <a:rPr lang="en-US" sz="4800" err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kalmannet</a:t>
            </a:r>
            <a:r>
              <a:rPr lang="en-US" sz="480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)</a:t>
            </a:r>
            <a:endParaRPr lang="en-US" sz="4800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387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4FC11-6656-8308-67B7-9D8EC2B3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 </a:t>
            </a:r>
            <a:r>
              <a:rPr lang="zh-CN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Overview</a:t>
            </a:r>
            <a:endParaRPr lang="zh-CN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84EF8-8E01-20C6-5E9F-F1C3C6CB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>
                <a:ea typeface="+mn-lt"/>
                <a:cs typeface="+mn-lt"/>
              </a:rPr>
              <a:t>M</a:t>
            </a:r>
            <a:r>
              <a:rPr lang="zh-CN">
                <a:ea typeface="+mn-lt"/>
                <a:cs typeface="+mn-lt"/>
              </a:rPr>
              <a:t>odel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zh-CN">
                <a:ea typeface="+mn-lt"/>
                <a:cs typeface="+mn-lt"/>
              </a:rPr>
              <a:t>based Kalman Filter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with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Constant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Acceleration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(CA)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dynamics</a:t>
            </a:r>
            <a:endParaRPr lang="zh-CN" altLang="en-US">
              <a:ea typeface="宋体"/>
            </a:endParaRPr>
          </a:p>
          <a:p>
            <a:r>
              <a:rPr lang="en-US" altLang="zh-CN">
                <a:ea typeface="+mn-lt"/>
                <a:cs typeface="+mn-lt"/>
              </a:rPr>
              <a:t>Noisy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GPS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p</a:t>
            </a:r>
            <a:r>
              <a:rPr lang="zh-CN">
                <a:ea typeface="+mn-lt"/>
                <a:cs typeface="+mn-lt"/>
              </a:rPr>
              <a:t>os</a:t>
            </a:r>
            <a:r>
              <a:rPr lang="en-US" altLang="zh-CN" err="1">
                <a:ea typeface="+mn-lt"/>
                <a:cs typeface="+mn-lt"/>
              </a:rPr>
              <a:t>i</a:t>
            </a:r>
            <a:r>
              <a:rPr lang="zh-CN">
                <a:ea typeface="+mn-lt"/>
                <a:cs typeface="+mn-lt"/>
              </a:rPr>
              <a:t>t</a:t>
            </a:r>
            <a:r>
              <a:rPr lang="en-US" altLang="zh-CN">
                <a:ea typeface="+mn-lt"/>
                <a:cs typeface="+mn-lt"/>
              </a:rPr>
              <a:t>ion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me</a:t>
            </a:r>
            <a:r>
              <a:rPr lang="zh-CN">
                <a:ea typeface="+mn-lt"/>
                <a:cs typeface="+mn-lt"/>
              </a:rPr>
              <a:t>a</a:t>
            </a:r>
            <a:r>
              <a:rPr lang="en-US" altLang="zh-CN" err="1">
                <a:ea typeface="+mn-lt"/>
                <a:cs typeface="+mn-lt"/>
              </a:rPr>
              <a:t>sureme</a:t>
            </a:r>
            <a:r>
              <a:rPr lang="zh-CN">
                <a:ea typeface="+mn-lt"/>
                <a:cs typeface="+mn-lt"/>
              </a:rPr>
              <a:t>nt</a:t>
            </a:r>
            <a:r>
              <a:rPr lang="en-US" altLang="zh-CN">
                <a:ea typeface="+mn-lt"/>
                <a:cs typeface="+mn-lt"/>
              </a:rPr>
              <a:t>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as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 err="1">
                <a:ea typeface="+mn-lt"/>
                <a:cs typeface="+mn-lt"/>
              </a:rPr>
              <a:t>obs</a:t>
            </a:r>
            <a:r>
              <a:rPr lang="zh-CN">
                <a:ea typeface="+mn-lt"/>
                <a:cs typeface="+mn-lt"/>
              </a:rPr>
              <a:t>er</a:t>
            </a:r>
            <a:r>
              <a:rPr lang="en-US" altLang="zh-CN">
                <a:ea typeface="+mn-lt"/>
                <a:cs typeface="+mn-lt"/>
              </a:rPr>
              <a:t>v</a:t>
            </a:r>
            <a:r>
              <a:rPr lang="zh-CN">
                <a:ea typeface="+mn-lt"/>
                <a:cs typeface="+mn-lt"/>
              </a:rPr>
              <a:t>ation</a:t>
            </a:r>
            <a:r>
              <a:rPr lang="en-US" altLang="zh-CN">
                <a:ea typeface="+mn-lt"/>
                <a:cs typeface="+mn-lt"/>
              </a:rPr>
              <a:t>s</a:t>
            </a:r>
            <a:endParaRPr lang="zh-CN">
              <a:ea typeface="宋体"/>
            </a:endParaRPr>
          </a:p>
          <a:p>
            <a:r>
              <a:rPr lang="en-US" altLang="zh-CN">
                <a:ea typeface="+mn-lt"/>
                <a:cs typeface="+mn-lt"/>
              </a:rPr>
              <a:t>Proc</a:t>
            </a:r>
            <a:r>
              <a:rPr lang="zh-CN">
                <a:ea typeface="+mn-lt"/>
                <a:cs typeface="+mn-lt"/>
              </a:rPr>
              <a:t>es</a:t>
            </a:r>
            <a:r>
              <a:rPr lang="en-US" altLang="zh-CN">
                <a:ea typeface="+mn-lt"/>
                <a:cs typeface="+mn-lt"/>
              </a:rPr>
              <a:t>s</a:t>
            </a:r>
            <a:r>
              <a:rPr lang="zh-CN">
                <a:ea typeface="+mn-lt"/>
                <a:cs typeface="+mn-lt"/>
              </a:rPr>
              <a:t> nois</a:t>
            </a:r>
            <a:r>
              <a:rPr lang="en-US" altLang="zh-CN">
                <a:ea typeface="+mn-lt"/>
                <a:cs typeface="+mn-lt"/>
              </a:rPr>
              <a:t>e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a</a:t>
            </a:r>
            <a:r>
              <a:rPr lang="zh-CN">
                <a:ea typeface="+mn-lt"/>
                <a:cs typeface="+mn-lt"/>
              </a:rPr>
              <a:t>n</a:t>
            </a:r>
            <a:r>
              <a:rPr lang="en-US" altLang="zh-CN">
                <a:ea typeface="+mn-lt"/>
                <a:cs typeface="+mn-lt"/>
              </a:rPr>
              <a:t>d</a:t>
            </a:r>
            <a:r>
              <a:rPr lang="zh-CN">
                <a:ea typeface="+mn-lt"/>
                <a:cs typeface="+mn-lt"/>
              </a:rPr>
              <a:t> measurement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noise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are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time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varying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and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learned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from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innovation</a:t>
            </a:r>
            <a:r>
              <a:rPr lang="zh-CN">
                <a:ea typeface="+mn-lt"/>
                <a:cs typeface="+mn-lt"/>
              </a:rPr>
              <a:t>s</a:t>
            </a:r>
          </a:p>
          <a:p>
            <a:r>
              <a:rPr lang="en-US" altLang="zh-CN">
                <a:ea typeface="+mn-lt"/>
                <a:cs typeface="+mn-lt"/>
              </a:rPr>
              <a:t>Training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is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unsupervised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using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innovation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negative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log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likelihood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(NLL)</a:t>
            </a:r>
            <a:endParaRPr lang="zh-CN">
              <a:ea typeface="宋体"/>
            </a:endParaRPr>
          </a:p>
          <a:p>
            <a:endParaRPr lang="en-US" altLang="zh-CN">
              <a:ea typeface="宋体"/>
            </a:endParaRPr>
          </a:p>
          <a:p>
            <a:endParaRPr lang="zh-CN">
              <a:ea typeface="宋体"/>
            </a:endParaRPr>
          </a:p>
          <a:p>
            <a:endParaRPr lang="zh-CN" altLang="en-US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36436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9503F19-73D7-2985-7F6F-33A91CE56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sz="2400">
                <a:ea typeface="+mn-lt"/>
                <a:cs typeface="+mn-lt"/>
              </a:rPr>
              <a:t>Acceleration </a:t>
            </a:r>
            <a:r>
              <a:rPr lang="en-US" altLang="zh-CN" sz="2400">
                <a:ea typeface="+mn-lt"/>
                <a:cs typeface="+mn-lt"/>
              </a:rPr>
              <a:t>is</a:t>
            </a:r>
            <a:r>
              <a:rPr lang="zh-CN" altLang="en-US" sz="2400">
                <a:ea typeface="+mn-lt"/>
                <a:cs typeface="+mn-lt"/>
              </a:rPr>
              <a:t> </a:t>
            </a:r>
            <a:r>
              <a:rPr lang="zh-CN" sz="2400">
                <a:ea typeface="+mn-lt"/>
                <a:cs typeface="+mn-lt"/>
              </a:rPr>
              <a:t>assumed constant </a:t>
            </a:r>
            <a:r>
              <a:rPr lang="en-US" altLang="zh-CN" sz="2400">
                <a:ea typeface="+mn-lt"/>
                <a:cs typeface="+mn-lt"/>
              </a:rPr>
              <a:t>w</a:t>
            </a:r>
            <a:r>
              <a:rPr lang="zh-CN" sz="2400">
                <a:ea typeface="+mn-lt"/>
                <a:cs typeface="+mn-lt"/>
              </a:rPr>
              <a:t>it</a:t>
            </a:r>
            <a:r>
              <a:rPr lang="en-US" altLang="zh-CN" sz="2400">
                <a:ea typeface="+mn-lt"/>
                <a:cs typeface="+mn-lt"/>
              </a:rPr>
              <a:t>h</a:t>
            </a:r>
            <a:r>
              <a:rPr lang="zh-CN" sz="2400">
                <a:ea typeface="+mn-lt"/>
                <a:cs typeface="+mn-lt"/>
              </a:rPr>
              <a:t>i</a:t>
            </a:r>
            <a:r>
              <a:rPr lang="en-US" altLang="zh-CN" sz="2400">
                <a:ea typeface="+mn-lt"/>
                <a:cs typeface="+mn-lt"/>
              </a:rPr>
              <a:t>n</a:t>
            </a:r>
            <a:r>
              <a:rPr lang="zh-CN" altLang="en-US" sz="2400">
                <a:ea typeface="+mn-lt"/>
                <a:cs typeface="+mn-lt"/>
              </a:rPr>
              <a:t> </a:t>
            </a:r>
            <a:r>
              <a:rPr lang="zh-CN" sz="2400">
                <a:ea typeface="+mn-lt"/>
                <a:cs typeface="+mn-lt"/>
              </a:rPr>
              <a:t>e</a:t>
            </a:r>
            <a:r>
              <a:rPr lang="en-US" altLang="zh-CN" sz="2400">
                <a:ea typeface="+mn-lt"/>
                <a:cs typeface="+mn-lt"/>
              </a:rPr>
              <a:t>ach</a:t>
            </a:r>
            <a:r>
              <a:rPr lang="zh-CN" sz="2400">
                <a:ea typeface="+mn-lt"/>
                <a:cs typeface="+mn-lt"/>
              </a:rPr>
              <a:t> s</a:t>
            </a:r>
            <a:r>
              <a:rPr lang="en-US" altLang="zh-CN" sz="2400" err="1">
                <a:ea typeface="+mn-lt"/>
                <a:cs typeface="+mn-lt"/>
              </a:rPr>
              <a:t>ampling</a:t>
            </a:r>
            <a:r>
              <a:rPr lang="zh-CN" altLang="en-US" sz="2400">
                <a:ea typeface="+mn-lt"/>
                <a:cs typeface="+mn-lt"/>
              </a:rPr>
              <a:t> </a:t>
            </a:r>
            <a:r>
              <a:rPr lang="en-US" altLang="zh-CN" sz="2400">
                <a:ea typeface="+mn-lt"/>
                <a:cs typeface="+mn-lt"/>
              </a:rPr>
              <a:t>in</a:t>
            </a:r>
            <a:r>
              <a:rPr lang="zh-CN" sz="2400">
                <a:ea typeface="+mn-lt"/>
                <a:cs typeface="+mn-lt"/>
              </a:rPr>
              <a:t>te</a:t>
            </a:r>
            <a:r>
              <a:rPr lang="en-US" altLang="zh-CN" sz="2400" err="1">
                <a:ea typeface="+mn-lt"/>
                <a:cs typeface="+mn-lt"/>
              </a:rPr>
              <a:t>rval</a:t>
            </a:r>
            <a:r>
              <a:rPr lang="en-US" altLang="zh-CN" sz="2400">
                <a:ea typeface="+mn-lt"/>
                <a:cs typeface="+mn-lt"/>
              </a:rPr>
              <a:t>.</a:t>
            </a:r>
            <a:endParaRPr lang="zh-CN" altLang="en-US" sz="2400">
              <a:ea typeface="宋体"/>
            </a:endParaRPr>
          </a:p>
          <a:p>
            <a:r>
              <a:rPr lang="zh-CN" sz="2400">
                <a:ea typeface="+mn-lt"/>
                <a:cs typeface="+mn-lt"/>
              </a:rPr>
              <a:t>Linear state transition model</a:t>
            </a:r>
            <a:endParaRPr lang="en-US" altLang="zh-CN" sz="2400">
              <a:ea typeface="宋体"/>
            </a:endParaRPr>
          </a:p>
          <a:p>
            <a:endParaRPr lang="zh-CN">
              <a:ea typeface="宋体"/>
            </a:endParaRPr>
          </a:p>
          <a:p>
            <a:endParaRPr lang="zh-CN">
              <a:ea typeface="宋体"/>
            </a:endParaRPr>
          </a:p>
          <a:p>
            <a:endParaRPr lang="zh-CN" altLang="en-US">
              <a:ea typeface="宋体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A4DE56D4-5B09-B8B4-C265-746F12B0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Constant Acceleration </a:t>
            </a:r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(CA)</a:t>
            </a:r>
            <a:r>
              <a:rPr lang="zh-CN" altLang="en-US" sz="4000" b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 </a:t>
            </a:r>
            <a:r>
              <a:rPr 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Motion Model</a:t>
            </a:r>
            <a:endParaRPr lang="en-US" altLang="zh-CN" sz="4000" b="1">
              <a:solidFill>
                <a:schemeClr val="tx1">
                  <a:lumMod val="49000"/>
                  <a:lumOff val="51000"/>
                </a:schemeClr>
              </a:solidFill>
              <a:ea typeface="+mj-lt"/>
              <a:cs typeface="+mj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DBE9E09-9576-378A-ACEB-C4E307728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867" y="2297400"/>
            <a:ext cx="3091289" cy="608878"/>
          </a:xfrm>
          <a:prstGeom prst="rect">
            <a:avLst/>
          </a:prstGeom>
          <a:ln>
            <a:noFill/>
          </a:ln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2E48369-114E-76D0-584C-99B61E97C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268142"/>
              </p:ext>
            </p:extLst>
          </p:nvPr>
        </p:nvGraphicFramePr>
        <p:xfrm>
          <a:off x="1070629" y="3279906"/>
          <a:ext cx="9498168" cy="731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74542">
                  <a:extLst>
                    <a:ext uri="{9D8B030D-6E8A-4147-A177-3AD203B41FA5}">
                      <a16:colId xmlns:a16="http://schemas.microsoft.com/office/drawing/2014/main" val="1653246327"/>
                    </a:ext>
                  </a:extLst>
                </a:gridCol>
                <a:gridCol w="2374542">
                  <a:extLst>
                    <a:ext uri="{9D8B030D-6E8A-4147-A177-3AD203B41FA5}">
                      <a16:colId xmlns:a16="http://schemas.microsoft.com/office/drawing/2014/main" val="2217965995"/>
                    </a:ext>
                  </a:extLst>
                </a:gridCol>
                <a:gridCol w="2374542">
                  <a:extLst>
                    <a:ext uri="{9D8B030D-6E8A-4147-A177-3AD203B41FA5}">
                      <a16:colId xmlns:a16="http://schemas.microsoft.com/office/drawing/2014/main" val="2929467819"/>
                    </a:ext>
                  </a:extLst>
                </a:gridCol>
                <a:gridCol w="2374542">
                  <a:extLst>
                    <a:ext uri="{9D8B030D-6E8A-4147-A177-3AD203B41FA5}">
                      <a16:colId xmlns:a16="http://schemas.microsoft.com/office/drawing/2014/main" val="3361556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err="1"/>
                        <a:t>Expressiveness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err="1"/>
                        <a:t>Robustness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err="1"/>
                        <a:t>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81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0"/>
                        <a:t>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err="1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err="1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437867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62445A2E-F6C8-8C3C-0711-B2F3174D49F6}"/>
              </a:ext>
            </a:extLst>
          </p:cNvPr>
          <p:cNvSpPr txBox="1"/>
          <p:nvPr/>
        </p:nvSpPr>
        <p:spPr>
          <a:xfrm>
            <a:off x="833790" y="4515583"/>
            <a:ext cx="996610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CN">
                <a:ea typeface="+mn-lt"/>
                <a:cs typeface="+mn-lt"/>
              </a:rPr>
              <a:t>CA captures short-term vehicle dynamics better than CV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zh-CN">
                <a:ea typeface="+mn-lt"/>
                <a:cs typeface="+mn-lt"/>
              </a:rPr>
              <a:t>More expressive than CV, but more stable than higher-order models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zh-CN">
                <a:ea typeface="+mn-lt"/>
                <a:cs typeface="+mn-lt"/>
              </a:rPr>
              <a:t>Suitable for noisy GPS-only scenarios</a:t>
            </a:r>
            <a:endParaRPr lang="zh-CN"/>
          </a:p>
          <a:p>
            <a:pPr algn="l"/>
            <a:endParaRPr lang="zh-CN" altLang="en-US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125645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B8901-D99D-A8DD-401C-9D221B8B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713" y="198358"/>
            <a:ext cx="9846276" cy="1119618"/>
          </a:xfrm>
        </p:spPr>
        <p:txBody>
          <a:bodyPr>
            <a:normAutofit/>
          </a:bodyPr>
          <a:lstStyle/>
          <a:p>
            <a:pPr algn="ctr"/>
            <a:r>
              <a:rPr 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Filtering Framework and NIS Gating</a:t>
            </a:r>
            <a:endParaRPr lang="zh-CN" sz="40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F6B3AEF-1B24-5BCF-CF2E-A4355F0FE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1964" y="1505565"/>
            <a:ext cx="4015555" cy="518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98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880A5-098F-3496-B566-712DBADC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325563"/>
          </a:xfrm>
        </p:spPr>
        <p:txBody>
          <a:bodyPr/>
          <a:lstStyle/>
          <a:p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Results</a:t>
            </a:r>
            <a:r>
              <a:rPr lang="zh-CN" altLang="en-US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1</a:t>
            </a:r>
            <a:endParaRPr lang="en-US" sz="4000" b="1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6" name="Content Placeholder 5" descr="A graph with a blue line and pink dots">
            <a:extLst>
              <a:ext uri="{FF2B5EF4-FFF2-40B4-BE49-F238E27FC236}">
                <a16:creationId xmlns:a16="http://schemas.microsoft.com/office/drawing/2014/main" id="{B3988F32-5734-8E56-4B4F-5190971CB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-6641" r="-3620" b="-237"/>
          <a:stretch>
            <a:fillRect/>
          </a:stretch>
        </p:blipFill>
        <p:spPr>
          <a:xfrm>
            <a:off x="2554076" y="1269311"/>
            <a:ext cx="7084199" cy="4650626"/>
          </a:xfrm>
          <a:prstGeom prst="rect">
            <a:avLst/>
          </a:prstGeom>
        </p:spPr>
      </p:pic>
      <p:pic>
        <p:nvPicPr>
          <p:cNvPr id="9" name="Picture 8" descr="A graph with a blue line and pink dots">
            <a:extLst>
              <a:ext uri="{FF2B5EF4-FFF2-40B4-BE49-F238E27FC236}">
                <a16:creationId xmlns:a16="http://schemas.microsoft.com/office/drawing/2014/main" id="{3E655142-4656-FE94-9391-D3287C0B7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847" y="1360015"/>
            <a:ext cx="7926603" cy="508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0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907F7130-505E-70FF-EA39-E8EABC79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Results</a:t>
            </a:r>
            <a:r>
              <a:rPr lang="zh-CN" altLang="en-US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2</a:t>
            </a:r>
            <a:endParaRPr lang="en-US" sz="4000" b="1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67F3A1-EAF9-8078-4BA3-67D930F37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2981" y="1691760"/>
            <a:ext cx="7036334" cy="44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64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DFDEB-8143-DCD9-D892-A5EE52A9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75" y="379502"/>
            <a:ext cx="10515600" cy="1325563"/>
          </a:xfrm>
        </p:spPr>
        <p:txBody>
          <a:bodyPr/>
          <a:lstStyle/>
          <a:p>
            <a:r>
              <a:rPr lang="zh-CN" altLang="en-US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</a:t>
            </a:r>
            <a:r>
              <a:rPr lang="en-US" altLang="zh-CN" sz="4000" b="1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Results 3</a:t>
            </a:r>
            <a:endParaRPr lang="zh-CN" altLang="en-US" sz="40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9DF9AC33-9801-F402-9D3C-9D06A4099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516174"/>
              </p:ext>
            </p:extLst>
          </p:nvPr>
        </p:nvGraphicFramePr>
        <p:xfrm>
          <a:off x="531962" y="1811547"/>
          <a:ext cx="10812975" cy="34786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604325">
                  <a:extLst>
                    <a:ext uri="{9D8B030D-6E8A-4147-A177-3AD203B41FA5}">
                      <a16:colId xmlns:a16="http://schemas.microsoft.com/office/drawing/2014/main" val="1034072845"/>
                    </a:ext>
                  </a:extLst>
                </a:gridCol>
                <a:gridCol w="3604325">
                  <a:extLst>
                    <a:ext uri="{9D8B030D-6E8A-4147-A177-3AD203B41FA5}">
                      <a16:colId xmlns:a16="http://schemas.microsoft.com/office/drawing/2014/main" val="3897025239"/>
                    </a:ext>
                  </a:extLst>
                </a:gridCol>
                <a:gridCol w="3604325">
                  <a:extLst>
                    <a:ext uri="{9D8B030D-6E8A-4147-A177-3AD203B41FA5}">
                      <a16:colId xmlns:a16="http://schemas.microsoft.com/office/drawing/2014/main" val="2557176820"/>
                    </a:ext>
                  </a:extLst>
                </a:gridCol>
              </a:tblGrid>
              <a:tr h="57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 err="1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 err="1"/>
                        <a:t>Noisy</a:t>
                      </a:r>
                      <a:r>
                        <a:rPr lang="af-ZA" b="1"/>
                        <a:t> 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b="1" err="1"/>
                        <a:t>Unsupervised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236714"/>
                  </a:ext>
                </a:extLst>
              </a:tr>
              <a:tr h="57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/>
                        <a:t>RMSE [m]</a:t>
                      </a:r>
                      <a:endParaRPr lang="zh-CN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7.1674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1.9375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315160"/>
                  </a:ext>
                </a:extLst>
              </a:tr>
              <a:tr h="57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/>
                        <a:t>MAE [m]</a:t>
                      </a:r>
                      <a:endParaRPr lang="zh-CN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6.3535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1.7240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592394"/>
                  </a:ext>
                </a:extLst>
              </a:tr>
              <a:tr h="57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/>
                        <a:t>MAX [m]</a:t>
                      </a:r>
                      <a:endParaRPr lang="zh-CN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16.8064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4.1024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975054"/>
                  </a:ext>
                </a:extLst>
              </a:tr>
              <a:tr h="57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 err="1"/>
                        <a:t>Bias</a:t>
                      </a:r>
                      <a:r>
                        <a:rPr lang="af-ZA" b="1"/>
                        <a:t> X [m]</a:t>
                      </a:r>
                      <a:endParaRPr lang="zh-CN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-0.0005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-0.0258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627450"/>
                  </a:ext>
                </a:extLst>
              </a:tr>
              <a:tr h="57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1" err="1"/>
                        <a:t>Bias</a:t>
                      </a:r>
                      <a:r>
                        <a:rPr lang="af-ZA" b="1"/>
                        <a:t> Y [m]</a:t>
                      </a:r>
                      <a:endParaRPr lang="zh-CN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0.1159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0.0265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20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649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2C755-54C8-B52B-E902-5FE8E337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Comparison</a:t>
            </a:r>
            <a:r>
              <a:rPr lang="zh-CN" altLang="en-US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1</a:t>
            </a:r>
            <a:endParaRPr lang="zh-CN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6" name="Picture 5" descr="A graph with a blue line and pink dots">
            <a:extLst>
              <a:ext uri="{FF2B5EF4-FFF2-40B4-BE49-F238E27FC236}">
                <a16:creationId xmlns:a16="http://schemas.microsoft.com/office/drawing/2014/main" id="{895B98D5-9FDA-BC80-FBAB-0B8BC6C41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117" y="1710122"/>
            <a:ext cx="5506741" cy="3623107"/>
          </a:xfrm>
          <a:prstGeom prst="rect">
            <a:avLst/>
          </a:prstGeom>
        </p:spPr>
      </p:pic>
      <p:pic>
        <p:nvPicPr>
          <p:cNvPr id="8" name="Picture 7" descr="A graph of a method tracking&#10;&#10;AI-generated content may be incorrect.">
            <a:extLst>
              <a:ext uri="{FF2B5EF4-FFF2-40B4-BE49-F238E27FC236}">
                <a16:creationId xmlns:a16="http://schemas.microsoft.com/office/drawing/2014/main" id="{6A6C2765-A643-FD37-9E1A-B386B4956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86" y="1713577"/>
            <a:ext cx="5634866" cy="361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04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323016-1A6C-085B-86B9-71DF196A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0"/>
            <a:ext cx="10515600" cy="1325563"/>
          </a:xfrm>
        </p:spPr>
        <p:txBody>
          <a:bodyPr/>
          <a:lstStyle/>
          <a:p>
            <a:r>
              <a:rPr lang="zh-CN" sz="4000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Comparison</a:t>
            </a:r>
            <a:r>
              <a:rPr lang="zh-CN" altLang="en-US" sz="4000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 2</a:t>
            </a:r>
            <a:endParaRPr lang="zh-CN" sz="4000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0E874C-4B25-AB69-F1EA-779821BFB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67" y="1579995"/>
            <a:ext cx="5277387" cy="3698715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B1DC97B3-CBF2-22C2-5D2B-5ECE31B74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089" y="1588787"/>
            <a:ext cx="5275498" cy="369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37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FA31A-73D4-9174-8125-CBD88FC4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Comparison </a:t>
            </a:r>
            <a:r>
              <a:rPr lang="en-US" altLang="zh-CN">
                <a:solidFill>
                  <a:schemeClr val="tx1">
                    <a:lumMod val="49000"/>
                    <a:lumOff val="51000"/>
                  </a:schemeClr>
                </a:solidFill>
                <a:ea typeface="宋体"/>
              </a:rPr>
              <a:t>3</a:t>
            </a:r>
            <a:endParaRPr lang="zh-CN">
              <a:solidFill>
                <a:schemeClr val="tx1">
                  <a:lumMod val="49000"/>
                  <a:lumOff val="51000"/>
                </a:schemeClr>
              </a:solidFill>
              <a:ea typeface="宋体"/>
            </a:endParaRP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54112389-D3AF-0400-DEDD-2B13CCF27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054111"/>
              </p:ext>
            </p:extLst>
          </p:nvPr>
        </p:nvGraphicFramePr>
        <p:xfrm>
          <a:off x="838200" y="1825625"/>
          <a:ext cx="10515600" cy="2194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499022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29346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664130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6627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 err="1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 err="1"/>
                        <a:t>Noisy</a:t>
                      </a:r>
                      <a:r>
                        <a:rPr lang="af-ZA" b="0"/>
                        <a:t> 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CN" sz="1800" b="0" i="0" u="none" strike="noStrike" noProof="0">
                          <a:solidFill>
                            <a:srgbClr val="000000"/>
                          </a:solidFill>
                          <a:latin typeface="Aptos"/>
                          <a:ea typeface="宋体"/>
                        </a:rPr>
                        <a:t>Plan A</a:t>
                      </a:r>
                      <a:endParaRPr lang="zh-CN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/>
                        <a:t>Plan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4460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/>
                        <a:t>RMSE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7.1674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1.9211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1.9375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34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/>
                        <a:t>MAE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6.3535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1.7107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1.7240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06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/>
                        <a:t>MAX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16.6480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4.3493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4.1024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044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 err="1"/>
                        <a:t>Bias</a:t>
                      </a:r>
                      <a:r>
                        <a:rPr lang="af-ZA" b="0"/>
                        <a:t> X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-0.5014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0.1800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-0.0258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62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f-ZA" b="0" err="1"/>
                        <a:t>Bias</a:t>
                      </a:r>
                      <a:r>
                        <a:rPr lang="af-ZA" b="0"/>
                        <a:t> Y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0.6168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-0.0226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/>
                        <a:t>0.0265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63376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26CD636-A239-ED69-7CAC-734D29D134D5}"/>
              </a:ext>
            </a:extLst>
          </p:cNvPr>
          <p:cNvSpPr txBox="1"/>
          <p:nvPr/>
        </p:nvSpPr>
        <p:spPr>
          <a:xfrm>
            <a:off x="1674253" y="49261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84C9F1-1462-6D3A-D623-93CC31D18F6C}"/>
              </a:ext>
            </a:extLst>
          </p:cNvPr>
          <p:cNvSpPr txBox="1"/>
          <p:nvPr/>
        </p:nvSpPr>
        <p:spPr>
          <a:xfrm>
            <a:off x="1255690" y="506569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02868F-568B-1CBF-0863-322627E569CA}"/>
              </a:ext>
            </a:extLst>
          </p:cNvPr>
          <p:cNvSpPr txBox="1"/>
          <p:nvPr/>
        </p:nvSpPr>
        <p:spPr>
          <a:xfrm>
            <a:off x="901520" y="4711520"/>
            <a:ext cx="8532253" cy="17708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025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Lab Experience in Signals and Data Processing</vt:lpstr>
      <vt:lpstr> Contents</vt:lpstr>
      <vt:lpstr>Trajectory </vt:lpstr>
      <vt:lpstr>Setup</vt:lpstr>
      <vt:lpstr>Ego Vehicle Modeling</vt:lpstr>
      <vt:lpstr>Plan A:  Traditional Method</vt:lpstr>
      <vt:lpstr>Traditional Baseline</vt:lpstr>
      <vt:lpstr>Filtering Method</vt:lpstr>
      <vt:lpstr> Results1  </vt:lpstr>
      <vt:lpstr>PowerPoint Presentation</vt:lpstr>
      <vt:lpstr>Results3</vt:lpstr>
      <vt:lpstr>Plan B:  Unsupervised Learning (kalmannet)</vt:lpstr>
      <vt:lpstr>  Overview</vt:lpstr>
      <vt:lpstr>Constant Acceleration (CA) Motion Model</vt:lpstr>
      <vt:lpstr>Filtering Framework and NIS Gating</vt:lpstr>
      <vt:lpstr>Results 1</vt:lpstr>
      <vt:lpstr>Results 2</vt:lpstr>
      <vt:lpstr> Results 3</vt:lpstr>
      <vt:lpstr>Comparison 1</vt:lpstr>
      <vt:lpstr>Comparison 2</vt:lpstr>
      <vt:lpstr>Comparison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2025-12-22T13:53:41Z</dcterms:created>
  <dcterms:modified xsi:type="dcterms:W3CDTF">2025-12-23T09:53:40Z</dcterms:modified>
</cp:coreProperties>
</file>